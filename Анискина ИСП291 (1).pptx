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12192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1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>
  <p:cSld name="Титульный слайд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34698" y="2453391"/>
            <a:ext cx="6346132" cy="15226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None/>
              <a:defRPr b="1" sz="2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19357" l="0" r="49722" t="19356"/>
          <a:stretch/>
        </p:blipFill>
        <p:spPr>
          <a:xfrm>
            <a:off x="6556531" y="808958"/>
            <a:ext cx="5576500" cy="4806062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/>
        </p:nvSpPr>
        <p:spPr>
          <a:xfrm>
            <a:off x="570629" y="4010120"/>
            <a:ext cx="377129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ВЫПОЛНИЛ СТУДЕНТ ГРУППЫ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2"/>
          <p:cNvSpPr txBox="1"/>
          <p:nvPr>
            <p:ph idx="1" type="body"/>
          </p:nvPr>
        </p:nvSpPr>
        <p:spPr>
          <a:xfrm>
            <a:off x="634698" y="4449555"/>
            <a:ext cx="6700974" cy="7064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  <a:defRPr sz="2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2"/>
          <p:cNvSpPr/>
          <p:nvPr/>
        </p:nvSpPr>
        <p:spPr>
          <a:xfrm>
            <a:off x="637150" y="1359011"/>
            <a:ext cx="27251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ДИПЛОМНЫЙ ПРОЕКТ</a:t>
            </a: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634698" y="2123477"/>
            <a:ext cx="10887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НА ТЕМУ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"/>
          <p:cNvSpPr txBox="1"/>
          <p:nvPr>
            <p:ph idx="2" type="body"/>
          </p:nvPr>
        </p:nvSpPr>
        <p:spPr>
          <a:xfrm>
            <a:off x="3952616" y="3997677"/>
            <a:ext cx="959937" cy="3670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None/>
              <a:defRPr sz="16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634698" y="608491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/>
          <p:nvPr/>
        </p:nvSpPr>
        <p:spPr>
          <a:xfrm>
            <a:off x="570629" y="5179157"/>
            <a:ext cx="6250577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РУКОВОДИТЕЛЬ ДИПЛОМНОГО ПРОЕКТА: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КОНСУЛЬТАНТ ПО ЭКОНОМИЧЕСКОЙ ЧАСТИ: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2"/>
          <p:cNvSpPr txBox="1"/>
          <p:nvPr>
            <p:ph idx="3" type="body"/>
          </p:nvPr>
        </p:nvSpPr>
        <p:spPr>
          <a:xfrm>
            <a:off x="5200503" y="5179157"/>
            <a:ext cx="2299063" cy="4056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1600"/>
              <a:buNone/>
              <a:defRPr b="0" sz="16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4" type="body"/>
          </p:nvPr>
        </p:nvSpPr>
        <p:spPr>
          <a:xfrm>
            <a:off x="5200475" y="5600152"/>
            <a:ext cx="2299063" cy="4056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1600"/>
              <a:buNone/>
              <a:defRPr b="0" sz="16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2"/>
          <p:cNvSpPr/>
          <p:nvPr/>
        </p:nvSpPr>
        <p:spPr>
          <a:xfrm>
            <a:off x="184417" y="437781"/>
            <a:ext cx="1184109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ДЕПАРТАМЕНТ ОБРАЗОВАНИЯ И НАУКИ ГОРОДА МОСКВЫ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Государственное бюджетное профессиональное образовательное учреждение города Москвы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«Колледж автоматизации и информационных технологий № 20»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Заголовок и объект">
  <p:cSld name="10_Заголовок и объек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/>
          <p:nvPr/>
        </p:nvSpPr>
        <p:spPr>
          <a:xfrm rot="-5400002">
            <a:off x="6107538" y="-4941110"/>
            <a:ext cx="815121" cy="11353801"/>
          </a:xfrm>
          <a:prstGeom prst="rect">
            <a:avLst/>
          </a:prstGeom>
          <a:gradFill>
            <a:gsLst>
              <a:gs pos="0">
                <a:srgbClr val="764596"/>
              </a:gs>
              <a:gs pos="100000">
                <a:srgbClr val="44439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 txBox="1"/>
          <p:nvPr>
            <p:ph type="title"/>
          </p:nvPr>
        </p:nvSpPr>
        <p:spPr>
          <a:xfrm>
            <a:off x="1106500" y="328229"/>
            <a:ext cx="10247299" cy="8151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568" y="234871"/>
            <a:ext cx="787632" cy="1064695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3"/>
          <p:cNvSpPr txBox="1"/>
          <p:nvPr>
            <p:ph idx="1" type="body"/>
          </p:nvPr>
        </p:nvSpPr>
        <p:spPr>
          <a:xfrm>
            <a:off x="838198" y="1304544"/>
            <a:ext cx="5147663" cy="486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4391"/>
              </a:buClr>
              <a:buSzPts val="2400"/>
              <a:buNone/>
              <a:defRPr sz="2400">
                <a:solidFill>
                  <a:srgbClr val="44439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3"/>
          <p:cNvSpPr/>
          <p:nvPr/>
        </p:nvSpPr>
        <p:spPr>
          <a:xfrm rot="-7712891">
            <a:off x="10286727" y="584961"/>
            <a:ext cx="2146752" cy="416832"/>
          </a:xfrm>
          <a:prstGeom prst="parallelogram">
            <a:avLst>
              <a:gd fmla="val 7917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 txBox="1"/>
          <p:nvPr>
            <p:ph idx="2" type="body"/>
          </p:nvPr>
        </p:nvSpPr>
        <p:spPr>
          <a:xfrm>
            <a:off x="6206138" y="1299566"/>
            <a:ext cx="5147662" cy="49904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4391"/>
              </a:buClr>
              <a:buSzPts val="1800"/>
              <a:buNone/>
              <a:defRPr sz="1800">
                <a:solidFill>
                  <a:srgbClr val="44439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3"/>
          <p:cNvSpPr txBox="1"/>
          <p:nvPr>
            <p:ph idx="3" type="body"/>
          </p:nvPr>
        </p:nvSpPr>
        <p:spPr>
          <a:xfrm>
            <a:off x="838198" y="1952472"/>
            <a:ext cx="5147663" cy="4337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4391"/>
              </a:buClr>
              <a:buSzPts val="2400"/>
              <a:buNone/>
              <a:defRPr sz="2400">
                <a:solidFill>
                  <a:srgbClr val="44439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>
  <p:cSld name="Заголовок и объек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/>
          <p:nvPr/>
        </p:nvSpPr>
        <p:spPr>
          <a:xfrm>
            <a:off x="1" y="0"/>
            <a:ext cx="1413862" cy="6858000"/>
          </a:xfrm>
          <a:prstGeom prst="rect">
            <a:avLst/>
          </a:prstGeom>
          <a:gradFill>
            <a:gsLst>
              <a:gs pos="0">
                <a:srgbClr val="764596"/>
              </a:gs>
              <a:gs pos="100000">
                <a:srgbClr val="44439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 txBox="1"/>
          <p:nvPr>
            <p:ph type="title"/>
          </p:nvPr>
        </p:nvSpPr>
        <p:spPr>
          <a:xfrm>
            <a:off x="1720583" y="1807134"/>
            <a:ext cx="8645178" cy="188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C4291"/>
              </a:buClr>
              <a:buSzPts val="3200"/>
              <a:buFont typeface="Arial"/>
              <a:buNone/>
              <a:defRPr b="1" sz="3200">
                <a:solidFill>
                  <a:srgbClr val="4C429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5" name="Google Shape;3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3116" y="244739"/>
            <a:ext cx="787632" cy="106469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4"/>
          <p:cNvSpPr/>
          <p:nvPr/>
        </p:nvSpPr>
        <p:spPr>
          <a:xfrm rot="-2312889">
            <a:off x="-370082" y="1666669"/>
            <a:ext cx="2146752" cy="416832"/>
          </a:xfrm>
          <a:prstGeom prst="parallelogram">
            <a:avLst>
              <a:gd fmla="val 7917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 txBox="1"/>
          <p:nvPr>
            <p:ph idx="1" type="body"/>
          </p:nvPr>
        </p:nvSpPr>
        <p:spPr>
          <a:xfrm>
            <a:off x="1720583" y="3696021"/>
            <a:ext cx="6529387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4391"/>
              </a:buClr>
              <a:buSzPts val="2800"/>
              <a:buNone/>
              <a:defRPr>
                <a:solidFill>
                  <a:srgbClr val="44439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">
  <p:cSld name="3_Титульный слайд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17460" y="905057"/>
            <a:ext cx="3511366" cy="351923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>
            <p:ph type="ctrTitle"/>
          </p:nvPr>
        </p:nvSpPr>
        <p:spPr>
          <a:xfrm>
            <a:off x="634698" y="2453391"/>
            <a:ext cx="6346132" cy="15226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None/>
              <a:defRPr b="1" sz="2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/>
        </p:nvSpPr>
        <p:spPr>
          <a:xfrm>
            <a:off x="570629" y="4010120"/>
            <a:ext cx="377129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Arial"/>
              <a:buNone/>
            </a:pPr>
            <a:r>
              <a:rPr lang="ru-RU" sz="16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ВЫПОЛНИЛ СТУДЕНТ ГРУППЫ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 txBox="1"/>
          <p:nvPr>
            <p:ph idx="1" type="body"/>
          </p:nvPr>
        </p:nvSpPr>
        <p:spPr>
          <a:xfrm>
            <a:off x="634698" y="4449555"/>
            <a:ext cx="6700974" cy="7064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  <a:defRPr sz="2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5"/>
          <p:cNvSpPr/>
          <p:nvPr/>
        </p:nvSpPr>
        <p:spPr>
          <a:xfrm>
            <a:off x="637150" y="1359011"/>
            <a:ext cx="27251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ДИПЛОМНЫЙ ПРОЕКТ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634698" y="2123477"/>
            <a:ext cx="10887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НА ТЕМУ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 txBox="1"/>
          <p:nvPr>
            <p:ph idx="2" type="body"/>
          </p:nvPr>
        </p:nvSpPr>
        <p:spPr>
          <a:xfrm>
            <a:off x="3952616" y="3997677"/>
            <a:ext cx="959937" cy="3670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None/>
              <a:defRPr sz="16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1" type="ftr"/>
          </p:nvPr>
        </p:nvSpPr>
        <p:spPr>
          <a:xfrm>
            <a:off x="634698" y="608491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"/>
          <p:cNvSpPr/>
          <p:nvPr/>
        </p:nvSpPr>
        <p:spPr>
          <a:xfrm>
            <a:off x="570629" y="5179157"/>
            <a:ext cx="6250577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РУКОВОДИТЕЛЬ ДИПЛОМНОГО ПРОЕКТА: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КОНСУЛЬТАНТ ПО ЭКОНОМИЧЕСКОЙ ЧАСТИ: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 txBox="1"/>
          <p:nvPr>
            <p:ph idx="3" type="body"/>
          </p:nvPr>
        </p:nvSpPr>
        <p:spPr>
          <a:xfrm>
            <a:off x="5208186" y="5189006"/>
            <a:ext cx="2299063" cy="4056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1600"/>
              <a:buNone/>
              <a:defRPr b="0" sz="16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5"/>
          <p:cNvSpPr txBox="1"/>
          <p:nvPr>
            <p:ph idx="4" type="body"/>
          </p:nvPr>
        </p:nvSpPr>
        <p:spPr>
          <a:xfrm>
            <a:off x="5200475" y="5600152"/>
            <a:ext cx="2299063" cy="4056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1600"/>
              <a:buNone/>
              <a:defRPr b="0" sz="16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5"/>
          <p:cNvSpPr/>
          <p:nvPr/>
        </p:nvSpPr>
        <p:spPr>
          <a:xfrm>
            <a:off x="184417" y="445466"/>
            <a:ext cx="1184109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ДЕПАРТАМЕНТ ОБРАЗОВАНИЯ И НАУКИ ГОРОДА МОСКВЫ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Государственное бюджетное профессиональное образовательное учреждение города Москвы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«Колледж автоматизации и информационных технологий № 20»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Заголовок и объект">
  <p:cSld name="5_Заголовок и объек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"/>
          <p:cNvSpPr/>
          <p:nvPr/>
        </p:nvSpPr>
        <p:spPr>
          <a:xfrm rot="-5400002">
            <a:off x="6107538" y="-4941111"/>
            <a:ext cx="815121" cy="11353801"/>
          </a:xfrm>
          <a:prstGeom prst="rect">
            <a:avLst/>
          </a:prstGeom>
          <a:gradFill>
            <a:gsLst>
              <a:gs pos="0">
                <a:srgbClr val="764596"/>
              </a:gs>
              <a:gs pos="100000">
                <a:srgbClr val="44439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6"/>
          <p:cNvSpPr txBox="1"/>
          <p:nvPr>
            <p:ph type="title"/>
          </p:nvPr>
        </p:nvSpPr>
        <p:spPr>
          <a:xfrm>
            <a:off x="1037344" y="328228"/>
            <a:ext cx="10316455" cy="8151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4" name="Google Shape;5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568" y="234870"/>
            <a:ext cx="787632" cy="106469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6"/>
          <p:cNvSpPr txBox="1"/>
          <p:nvPr>
            <p:ph idx="1" type="body"/>
          </p:nvPr>
        </p:nvSpPr>
        <p:spPr>
          <a:xfrm>
            <a:off x="838198" y="1304543"/>
            <a:ext cx="10515601" cy="486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4391"/>
              </a:buClr>
              <a:buSzPts val="2400"/>
              <a:buNone/>
              <a:defRPr sz="2400">
                <a:solidFill>
                  <a:srgbClr val="44439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6"/>
          <p:cNvSpPr/>
          <p:nvPr/>
        </p:nvSpPr>
        <p:spPr>
          <a:xfrm rot="-7712891">
            <a:off x="10286727" y="638748"/>
            <a:ext cx="2146752" cy="416832"/>
          </a:xfrm>
          <a:prstGeom prst="parallelogram">
            <a:avLst>
              <a:gd fmla="val 7917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 txBox="1"/>
          <p:nvPr>
            <p:ph idx="2" type="body"/>
          </p:nvPr>
        </p:nvSpPr>
        <p:spPr>
          <a:xfrm>
            <a:off x="838200" y="193870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4391"/>
              </a:buClr>
              <a:buSzPts val="1800"/>
              <a:buNone/>
              <a:defRPr sz="1800">
                <a:solidFill>
                  <a:srgbClr val="44439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Заголовок и объект">
  <p:cSld name="11_Заголовок и объек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"/>
          <p:cNvSpPr/>
          <p:nvPr/>
        </p:nvSpPr>
        <p:spPr>
          <a:xfrm rot="-5400002">
            <a:off x="6107538" y="-4941111"/>
            <a:ext cx="815121" cy="11353801"/>
          </a:xfrm>
          <a:prstGeom prst="rect">
            <a:avLst/>
          </a:prstGeom>
          <a:gradFill>
            <a:gsLst>
              <a:gs pos="0">
                <a:srgbClr val="764596"/>
              </a:gs>
              <a:gs pos="100000">
                <a:srgbClr val="44439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7"/>
          <p:cNvSpPr txBox="1"/>
          <p:nvPr>
            <p:ph type="title"/>
          </p:nvPr>
        </p:nvSpPr>
        <p:spPr>
          <a:xfrm>
            <a:off x="1037344" y="328228"/>
            <a:ext cx="10316455" cy="8151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1" name="Google Shape;6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568" y="234870"/>
            <a:ext cx="787632" cy="106469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7"/>
          <p:cNvSpPr/>
          <p:nvPr/>
        </p:nvSpPr>
        <p:spPr>
          <a:xfrm rot="-7712891">
            <a:off x="10286727" y="577276"/>
            <a:ext cx="2146752" cy="416832"/>
          </a:xfrm>
          <a:prstGeom prst="parallelogram">
            <a:avLst>
              <a:gd fmla="val 7917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7"/>
          <p:cNvSpPr txBox="1"/>
          <p:nvPr>
            <p:ph idx="1" type="body"/>
          </p:nvPr>
        </p:nvSpPr>
        <p:spPr>
          <a:xfrm>
            <a:off x="838198" y="1786301"/>
            <a:ext cx="506730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3838"/>
              </a:buClr>
              <a:buSzPts val="1800"/>
              <a:buNone/>
              <a:defRPr sz="180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2" type="body"/>
          </p:nvPr>
        </p:nvSpPr>
        <p:spPr>
          <a:xfrm>
            <a:off x="6286499" y="1786301"/>
            <a:ext cx="506730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3838"/>
              </a:buClr>
              <a:buSzPts val="1800"/>
              <a:buNone/>
              <a:defRPr sz="180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7"/>
          <p:cNvSpPr txBox="1"/>
          <p:nvPr>
            <p:ph idx="3" type="body"/>
          </p:nvPr>
        </p:nvSpPr>
        <p:spPr>
          <a:xfrm>
            <a:off x="838198" y="1304543"/>
            <a:ext cx="10515601" cy="486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4391"/>
              </a:buClr>
              <a:buSzPts val="2400"/>
              <a:buNone/>
              <a:defRPr sz="2400">
                <a:solidFill>
                  <a:srgbClr val="44439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Заголовок и объект">
  <p:cSld name="12_Заголовок и объек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"/>
          <p:cNvSpPr/>
          <p:nvPr/>
        </p:nvSpPr>
        <p:spPr>
          <a:xfrm rot="-5400002">
            <a:off x="6107538" y="-4941111"/>
            <a:ext cx="815121" cy="11353801"/>
          </a:xfrm>
          <a:prstGeom prst="rect">
            <a:avLst/>
          </a:prstGeom>
          <a:gradFill>
            <a:gsLst>
              <a:gs pos="0">
                <a:srgbClr val="764596"/>
              </a:gs>
              <a:gs pos="100000">
                <a:srgbClr val="44439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8"/>
          <p:cNvSpPr txBox="1"/>
          <p:nvPr>
            <p:ph type="title"/>
          </p:nvPr>
        </p:nvSpPr>
        <p:spPr>
          <a:xfrm>
            <a:off x="1060396" y="328228"/>
            <a:ext cx="10293403" cy="8151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568" y="234870"/>
            <a:ext cx="787632" cy="106469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/>
          <p:nvPr/>
        </p:nvSpPr>
        <p:spPr>
          <a:xfrm rot="-7712891">
            <a:off x="10286727" y="500436"/>
            <a:ext cx="2146752" cy="416832"/>
          </a:xfrm>
          <a:prstGeom prst="parallelogram">
            <a:avLst>
              <a:gd fmla="val 7917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8"/>
          <p:cNvSpPr txBox="1"/>
          <p:nvPr>
            <p:ph idx="1" type="body"/>
          </p:nvPr>
        </p:nvSpPr>
        <p:spPr>
          <a:xfrm>
            <a:off x="838200" y="1299565"/>
            <a:ext cx="10515600" cy="49904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4391"/>
              </a:buClr>
              <a:buSzPts val="1800"/>
              <a:buNone/>
              <a:defRPr sz="1800">
                <a:solidFill>
                  <a:srgbClr val="44439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Заголовок и объект">
  <p:cSld name="1_Заголовок и объек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"/>
          <p:cNvSpPr/>
          <p:nvPr/>
        </p:nvSpPr>
        <p:spPr>
          <a:xfrm rot="-5400002">
            <a:off x="2620269" y="-1453842"/>
            <a:ext cx="815121" cy="4379261"/>
          </a:xfrm>
          <a:prstGeom prst="rect">
            <a:avLst/>
          </a:prstGeom>
          <a:gradFill>
            <a:gsLst>
              <a:gs pos="0">
                <a:srgbClr val="764596"/>
              </a:gs>
              <a:gs pos="100000">
                <a:srgbClr val="44439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9"/>
          <p:cNvSpPr/>
          <p:nvPr/>
        </p:nvSpPr>
        <p:spPr>
          <a:xfrm rot="-7712891">
            <a:off x="4203859" y="727299"/>
            <a:ext cx="2146752" cy="150770"/>
          </a:xfrm>
          <a:prstGeom prst="parallelogram">
            <a:avLst>
              <a:gd fmla="val 7917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9"/>
          <p:cNvSpPr txBox="1"/>
          <p:nvPr>
            <p:ph type="title"/>
          </p:nvPr>
        </p:nvSpPr>
        <p:spPr>
          <a:xfrm>
            <a:off x="952820" y="328229"/>
            <a:ext cx="4264640" cy="8151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568" y="234871"/>
            <a:ext cx="787632" cy="106469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>
            <p:ph idx="1" type="body"/>
          </p:nvPr>
        </p:nvSpPr>
        <p:spPr>
          <a:xfrm>
            <a:off x="5484576" y="328229"/>
            <a:ext cx="6438482" cy="61472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3838"/>
              </a:buClr>
              <a:buSzPts val="1800"/>
              <a:buNone/>
              <a:defRPr sz="180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9"/>
          <p:cNvSpPr txBox="1"/>
          <p:nvPr>
            <p:ph idx="2" type="body"/>
          </p:nvPr>
        </p:nvSpPr>
        <p:spPr>
          <a:xfrm>
            <a:off x="838200" y="1299566"/>
            <a:ext cx="4379260" cy="499047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4391"/>
              </a:buClr>
              <a:buSzPts val="1800"/>
              <a:buNone/>
              <a:defRPr sz="1800">
                <a:solidFill>
                  <a:srgbClr val="44439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Заголовок и объект">
  <p:cSld name="2_Заголовок и объек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0"/>
          <p:cNvSpPr/>
          <p:nvPr/>
        </p:nvSpPr>
        <p:spPr>
          <a:xfrm rot="-5400002">
            <a:off x="2620269" y="-1453842"/>
            <a:ext cx="815121" cy="4379261"/>
          </a:xfrm>
          <a:prstGeom prst="rect">
            <a:avLst/>
          </a:prstGeom>
          <a:gradFill>
            <a:gsLst>
              <a:gs pos="0">
                <a:srgbClr val="764596"/>
              </a:gs>
              <a:gs pos="100000">
                <a:srgbClr val="44439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0"/>
          <p:cNvSpPr/>
          <p:nvPr/>
        </p:nvSpPr>
        <p:spPr>
          <a:xfrm rot="-7712891">
            <a:off x="4203859" y="727299"/>
            <a:ext cx="2146752" cy="150770"/>
          </a:xfrm>
          <a:prstGeom prst="parallelogram">
            <a:avLst>
              <a:gd fmla="val 7917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0"/>
          <p:cNvSpPr txBox="1"/>
          <p:nvPr>
            <p:ph type="title"/>
          </p:nvPr>
        </p:nvSpPr>
        <p:spPr>
          <a:xfrm>
            <a:off x="999720" y="328229"/>
            <a:ext cx="4217740" cy="8151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3" name="Google Shape;8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568" y="234871"/>
            <a:ext cx="787632" cy="106469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0"/>
          <p:cNvSpPr txBox="1"/>
          <p:nvPr>
            <p:ph idx="1" type="body"/>
          </p:nvPr>
        </p:nvSpPr>
        <p:spPr>
          <a:xfrm>
            <a:off x="8840636" y="3403122"/>
            <a:ext cx="3082423" cy="294298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3838"/>
              </a:buClr>
              <a:buSzPts val="1800"/>
              <a:buNone/>
              <a:defRPr sz="180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10"/>
          <p:cNvSpPr txBox="1"/>
          <p:nvPr>
            <p:ph idx="2" type="body"/>
          </p:nvPr>
        </p:nvSpPr>
        <p:spPr>
          <a:xfrm>
            <a:off x="838200" y="1299566"/>
            <a:ext cx="4379260" cy="504654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4391"/>
              </a:buClr>
              <a:buSzPts val="1800"/>
              <a:buNone/>
              <a:defRPr sz="1800">
                <a:solidFill>
                  <a:srgbClr val="44439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10"/>
          <p:cNvSpPr txBox="1"/>
          <p:nvPr>
            <p:ph idx="3" type="body"/>
          </p:nvPr>
        </p:nvSpPr>
        <p:spPr>
          <a:xfrm>
            <a:off x="5596693" y="3403121"/>
            <a:ext cx="3082423" cy="294298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3838"/>
              </a:buClr>
              <a:buSzPts val="1800"/>
              <a:buNone/>
              <a:defRPr sz="180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10"/>
          <p:cNvSpPr txBox="1"/>
          <p:nvPr>
            <p:ph idx="4" type="body"/>
          </p:nvPr>
        </p:nvSpPr>
        <p:spPr>
          <a:xfrm>
            <a:off x="8840636" y="328228"/>
            <a:ext cx="3082423" cy="294298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3838"/>
              </a:buClr>
              <a:buSzPts val="1800"/>
              <a:buNone/>
              <a:defRPr sz="180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10"/>
          <p:cNvSpPr txBox="1"/>
          <p:nvPr>
            <p:ph idx="5" type="body"/>
          </p:nvPr>
        </p:nvSpPr>
        <p:spPr>
          <a:xfrm>
            <a:off x="5596693" y="328227"/>
            <a:ext cx="3082423" cy="294298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3838"/>
              </a:buClr>
              <a:buSzPts val="1800"/>
              <a:buNone/>
              <a:defRPr sz="180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1"/>
          <p:cNvSpPr txBox="1"/>
          <p:nvPr>
            <p:ph type="ctrTitle"/>
          </p:nvPr>
        </p:nvSpPr>
        <p:spPr>
          <a:xfrm>
            <a:off x="522514" y="2453391"/>
            <a:ext cx="6346132" cy="15226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None/>
            </a:pPr>
            <a:r>
              <a:rPr lang="ru-RU"/>
              <a:t>«Разработка мобильного приложения “Room Planner”»</a:t>
            </a:r>
            <a:endParaRPr/>
          </a:p>
        </p:txBody>
      </p:sp>
      <p:sp>
        <p:nvSpPr>
          <p:cNvPr id="94" name="Google Shape;94;p11"/>
          <p:cNvSpPr txBox="1"/>
          <p:nvPr>
            <p:ph idx="1" type="body"/>
          </p:nvPr>
        </p:nvSpPr>
        <p:spPr>
          <a:xfrm>
            <a:off x="522514" y="4461128"/>
            <a:ext cx="6756186" cy="7064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b="1" lang="ru-RU"/>
              <a:t>Анискина Ольга Алексеевна</a:t>
            </a:r>
            <a:endParaRPr b="1"/>
          </a:p>
        </p:txBody>
      </p:sp>
      <p:sp>
        <p:nvSpPr>
          <p:cNvPr id="95" name="Google Shape;95;p11"/>
          <p:cNvSpPr txBox="1"/>
          <p:nvPr>
            <p:ph idx="2" type="body"/>
          </p:nvPr>
        </p:nvSpPr>
        <p:spPr>
          <a:xfrm>
            <a:off x="3900606" y="3976066"/>
            <a:ext cx="1239483" cy="367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None/>
            </a:pPr>
            <a:r>
              <a:rPr lang="ru-RU"/>
              <a:t>ИСП291</a:t>
            </a:r>
            <a:endParaRPr/>
          </a:p>
        </p:txBody>
      </p:sp>
      <p:sp>
        <p:nvSpPr>
          <p:cNvPr id="96" name="Google Shape;96;p11"/>
          <p:cNvSpPr txBox="1"/>
          <p:nvPr>
            <p:ph idx="3" type="body"/>
          </p:nvPr>
        </p:nvSpPr>
        <p:spPr>
          <a:xfrm>
            <a:off x="5890563" y="5247005"/>
            <a:ext cx="2299063" cy="4056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None/>
            </a:pPr>
            <a:r>
              <a:rPr lang="ru-RU"/>
              <a:t>Аферов А.А.</a:t>
            </a:r>
            <a:endParaRPr/>
          </a:p>
        </p:txBody>
      </p:sp>
      <p:sp>
        <p:nvSpPr>
          <p:cNvPr id="97" name="Google Shape;97;p11"/>
          <p:cNvSpPr/>
          <p:nvPr/>
        </p:nvSpPr>
        <p:spPr>
          <a:xfrm flipH="1">
            <a:off x="440313" y="5211044"/>
            <a:ext cx="5361000" cy="72439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1"/>
          <p:cNvSpPr/>
          <p:nvPr/>
        </p:nvSpPr>
        <p:spPr>
          <a:xfrm flipH="1">
            <a:off x="463138" y="1106382"/>
            <a:ext cx="4892634" cy="72439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1"/>
          <p:cNvSpPr txBox="1"/>
          <p:nvPr/>
        </p:nvSpPr>
        <p:spPr>
          <a:xfrm flipH="1">
            <a:off x="624116" y="1527955"/>
            <a:ext cx="393600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ПМ.12 Оператор ЭВМ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1"/>
          <p:cNvSpPr txBox="1"/>
          <p:nvPr/>
        </p:nvSpPr>
        <p:spPr>
          <a:xfrm>
            <a:off x="351063" y="5167593"/>
            <a:ext cx="6096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Руководитель ПМ12</a:t>
            </a:r>
            <a:endParaRPr b="0" i="0" sz="3200" u="none" cap="none" strike="noStrik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"/>
          <p:cNvSpPr txBox="1"/>
          <p:nvPr>
            <p:ph type="title"/>
          </p:nvPr>
        </p:nvSpPr>
        <p:spPr>
          <a:xfrm>
            <a:off x="1106500" y="328229"/>
            <a:ext cx="10247299" cy="8151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ru-RU"/>
              <a:t>ВВЕДЕНИЕ</a:t>
            </a:r>
            <a:endParaRPr/>
          </a:p>
        </p:txBody>
      </p:sp>
      <p:sp>
        <p:nvSpPr>
          <p:cNvPr id="106" name="Google Shape;106;p12"/>
          <p:cNvSpPr/>
          <p:nvPr/>
        </p:nvSpPr>
        <p:spPr>
          <a:xfrm>
            <a:off x="785118" y="1639125"/>
            <a:ext cx="99328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Цель и задачи учебной практики</a:t>
            </a:r>
            <a:endParaRPr b="0" i="0" sz="2000" u="none" cap="none" strike="noStrike">
              <a:solidFill>
                <a:srgbClr val="4C429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12"/>
          <p:cNvSpPr txBox="1"/>
          <p:nvPr/>
        </p:nvSpPr>
        <p:spPr>
          <a:xfrm>
            <a:off x="732985" y="2413337"/>
            <a:ext cx="10570800" cy="3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</a:t>
            </a:r>
            <a:r>
              <a:rPr b="0" i="0" lang="ru-RU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чебная практика проходила в период с 12 января по 4 марта 2026 года на базе ГБПОУ КАИТ №20.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Цель практики: Углубление теоретических знаний и развитие практических навыков в сфере разработки программного обеспечения.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Задачи: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1. Изучить среду разработки Android Studio.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2. Освоить работу с локальными базами данных SQLite.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3. Разработать мобильное приложение для ведения списка задач.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4. Провести отладку и тестирование готового продукта.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3"/>
          <p:cNvSpPr txBox="1"/>
          <p:nvPr>
            <p:ph type="title"/>
          </p:nvPr>
        </p:nvSpPr>
        <p:spPr>
          <a:xfrm>
            <a:off x="1720583" y="1807134"/>
            <a:ext cx="8645178" cy="188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C4291"/>
              </a:buClr>
              <a:buSzPts val="3200"/>
              <a:buFont typeface="Arial"/>
              <a:buNone/>
            </a:pPr>
            <a:r>
              <a:rPr lang="ru-RU"/>
              <a:t>ТЕОРИТИЧЕСКАЯ ЧАСТЬ</a:t>
            </a:r>
            <a:endParaRPr/>
          </a:p>
        </p:txBody>
      </p:sp>
      <p:sp>
        <p:nvSpPr>
          <p:cNvPr id="113" name="Google Shape;113;p13"/>
          <p:cNvSpPr txBox="1"/>
          <p:nvPr>
            <p:ph idx="1" type="body"/>
          </p:nvPr>
        </p:nvSpPr>
        <p:spPr>
          <a:xfrm>
            <a:off x="1720583" y="3696021"/>
            <a:ext cx="6529387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44391"/>
              </a:buClr>
              <a:buSzPts val="2800"/>
              <a:buNone/>
            </a:pPr>
            <a:r>
              <a:rPr lang="ru-RU"/>
              <a:t>Характеристика места практики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 txBox="1"/>
          <p:nvPr>
            <p:ph type="title"/>
          </p:nvPr>
        </p:nvSpPr>
        <p:spPr>
          <a:xfrm>
            <a:off x="838198" y="332337"/>
            <a:ext cx="10247299" cy="8151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ru-RU" sz="2400"/>
              <a:t>Теоретическая часть</a:t>
            </a:r>
            <a:endParaRPr/>
          </a:p>
        </p:txBody>
      </p:sp>
      <p:sp>
        <p:nvSpPr>
          <p:cNvPr id="119" name="Google Shape;119;p14"/>
          <p:cNvSpPr txBox="1"/>
          <p:nvPr>
            <p:ph idx="1" type="body"/>
          </p:nvPr>
        </p:nvSpPr>
        <p:spPr>
          <a:xfrm>
            <a:off x="838198" y="1304544"/>
            <a:ext cx="5147663" cy="486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44391"/>
              </a:buClr>
              <a:buSzPts val="2400"/>
              <a:buNone/>
            </a:pPr>
            <a:r>
              <a:rPr lang="ru-RU"/>
              <a:t>База практики: отделение «ДатаХаб» 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838198" y="1948365"/>
            <a:ext cx="7006200" cy="4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Практика проходила в специализированном подразделении колледжа КАИТ №20 — «ДатаХаб».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Ключевые особенности подразделения: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</a:t>
            </a: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Ведущий IT-центр Москвы с проектным подходом к обучению.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Образовательные программы: Python, SQL, облачные технологии, основы ИИ и машинного обучения.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</a:t>
            </a: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Практика: Участие в реальных проектах, хакатонах и конкурсах с индустриальными партнерами.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</a:t>
            </a: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Инфраструктура: Современные лаборатории, доступ к Git, GitHub и облачным платформам.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 txBox="1"/>
          <p:nvPr>
            <p:ph type="title"/>
          </p:nvPr>
        </p:nvSpPr>
        <p:spPr>
          <a:xfrm>
            <a:off x="1720583" y="1807134"/>
            <a:ext cx="8645178" cy="188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C4291"/>
              </a:buClr>
              <a:buSzPts val="3200"/>
              <a:buFont typeface="Arial"/>
              <a:buNone/>
            </a:pPr>
            <a:r>
              <a:rPr lang="ru-RU"/>
              <a:t>ПРАКТИЧЕСКАЯ ЧАСТЬ</a:t>
            </a:r>
            <a:endParaRPr/>
          </a:p>
        </p:txBody>
      </p:sp>
      <p:sp>
        <p:nvSpPr>
          <p:cNvPr id="126" name="Google Shape;126;p15"/>
          <p:cNvSpPr txBox="1"/>
          <p:nvPr>
            <p:ph idx="1" type="body"/>
          </p:nvPr>
        </p:nvSpPr>
        <p:spPr>
          <a:xfrm>
            <a:off x="1720583" y="3696021"/>
            <a:ext cx="6529387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44391"/>
              </a:buClr>
              <a:buSzPts val="2800"/>
              <a:buNone/>
            </a:pPr>
            <a:r>
              <a:rPr lang="ru-RU"/>
              <a:t>Постановка задачи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"/>
          <p:cNvSpPr txBox="1"/>
          <p:nvPr>
            <p:ph type="title"/>
          </p:nvPr>
        </p:nvSpPr>
        <p:spPr>
          <a:xfrm>
            <a:off x="1106500" y="328229"/>
            <a:ext cx="10247299" cy="8151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ru-RU"/>
              <a:t>Практическая часть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454754" y="1276422"/>
            <a:ext cx="7931400" cy="53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ходе практики была поставлена задача разработать мобильное приложение "Room Planner" для бронирования аудиторий.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Функциональные требования: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</a:t>
            </a: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Бронирование аудитории</a:t>
            </a: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</a:t>
            </a: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Отображение списка с фильтрацией по статусу (Свободно/Занято/Моя заявка/Ожидает подтверждения)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Просмотр заявок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Редактирование профиля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</a:t>
            </a: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История заявок, сохранение заявок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Технологический стек: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Среда: Android Studio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Язык: Java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Интерфейс: XML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База данных: SQLite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Сборка: Gradle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7"/>
          <p:cNvSpPr txBox="1"/>
          <p:nvPr>
            <p:ph type="title"/>
          </p:nvPr>
        </p:nvSpPr>
        <p:spPr>
          <a:xfrm>
            <a:off x="1106500" y="328229"/>
            <a:ext cx="10247299" cy="8151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ru-RU"/>
              <a:t>Практическая часть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2587686" y="1232928"/>
            <a:ext cx="5641479" cy="375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Работа с данными. SQLite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533400" y="2124964"/>
            <a:ext cx="6096000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обеспечения сохранности данных при закрытии приложения была спроектирована локальная база данных SQLite.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Создан класс-помощник DatabaseHelper.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Реализованы основные CRUD-операции (создание, чтение, обновление, удаление).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База данных хранит поля: ID, Название задачи, Приоритет, Статус выполнения.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0" name="Google Shape;140;p17" title="Снимок экрана 2026-03-04 082821.png"/>
          <p:cNvPicPr preferRelativeResize="0"/>
          <p:nvPr/>
        </p:nvPicPr>
        <p:blipFill rotWithShape="1">
          <a:blip r:embed="rId3">
            <a:alphaModFix/>
          </a:blip>
          <a:srcRect b="0" l="4545" r="4554" t="0"/>
          <a:stretch/>
        </p:blipFill>
        <p:spPr>
          <a:xfrm>
            <a:off x="6689050" y="1324375"/>
            <a:ext cx="5074623" cy="519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"/>
          <p:cNvSpPr txBox="1"/>
          <p:nvPr>
            <p:ph type="title"/>
          </p:nvPr>
        </p:nvSpPr>
        <p:spPr>
          <a:xfrm>
            <a:off x="1106500" y="328229"/>
            <a:ext cx="10247299" cy="8151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46" name="Google Shape;146;p18"/>
          <p:cNvSpPr txBox="1"/>
          <p:nvPr>
            <p:ph idx="1" type="body"/>
          </p:nvPr>
        </p:nvSpPr>
        <p:spPr>
          <a:xfrm>
            <a:off x="838198" y="1304544"/>
            <a:ext cx="5147663" cy="486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44391"/>
              </a:buClr>
              <a:buSzPts val="2400"/>
              <a:buNone/>
            </a:pPr>
            <a:r>
              <a:rPr lang="ru-RU"/>
              <a:t>Пользовательский интерфейс</a:t>
            </a:r>
            <a:endParaRPr/>
          </a:p>
        </p:txBody>
      </p:sp>
      <p:sp>
        <p:nvSpPr>
          <p:cNvPr id="147" name="Google Shape;147;p18"/>
          <p:cNvSpPr txBox="1"/>
          <p:nvPr>
            <p:ph idx="3" type="body"/>
          </p:nvPr>
        </p:nvSpPr>
        <p:spPr>
          <a:xfrm>
            <a:off x="838198" y="1952472"/>
            <a:ext cx="5147663" cy="4337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Интерфейс приложения разработан с использованием языка разметки XML. Приложение состоит из нескольких экранов (Activities):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4391"/>
              </a:buClr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Главный экран с расписанием.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Экран с созданными заявками.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Профиль пользователя для брони аудитории.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4391"/>
              </a:buClr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Связь данных со списком обеспечивает специальный компонент — Адаптер (TaskAdapter)</a:t>
            </a: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8" name="Google Shape;148;p18" title="5278317182913810783.jpg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3892" l="0" r="0" t="3892"/>
          <a:stretch/>
        </p:blipFill>
        <p:spPr>
          <a:xfrm>
            <a:off x="6127125" y="2069225"/>
            <a:ext cx="2002800" cy="394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11274" y="2069075"/>
            <a:ext cx="1783702" cy="394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309448" y="2069075"/>
            <a:ext cx="1743977" cy="394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 txBox="1"/>
          <p:nvPr>
            <p:ph type="title"/>
          </p:nvPr>
        </p:nvSpPr>
        <p:spPr>
          <a:xfrm>
            <a:off x="1106500" y="328229"/>
            <a:ext cx="7203311" cy="8151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ru-RU"/>
              <a:t>Заключение</a:t>
            </a:r>
            <a:endParaRPr/>
          </a:p>
        </p:txBody>
      </p:sp>
      <p:sp>
        <p:nvSpPr>
          <p:cNvPr id="156" name="Google Shape;156;p19"/>
          <p:cNvSpPr txBox="1"/>
          <p:nvPr>
            <p:ph idx="2" type="body"/>
          </p:nvPr>
        </p:nvSpPr>
        <p:spPr>
          <a:xfrm>
            <a:off x="395267" y="1034279"/>
            <a:ext cx="10447952" cy="50535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391"/>
              </a:buClr>
              <a:buSzPts val="2000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результате прохождения учебной практики индивидуальное задание было выполнено в полном объеме.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4391"/>
              </a:buClr>
              <a:buSzPts val="2000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Итог: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Функциональные возможности: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-Просмотр доступных помещений и выбор временных слотов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-Создание и отправка заявок на бронирование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-Отслеживание статуса заявок («на рассмотрении», «подтверждено», «отклонено»)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Техническая реализация: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-Локальная база данных SQLite (обеспечивает целостность и сохранность данных)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-Полностью соответствует требованиям ТЗ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-Поддержка автономной работы (без подключения к сети)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1720583" y="1807134"/>
            <a:ext cx="8645178" cy="188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C4291"/>
              </a:buClr>
              <a:buSzPts val="3200"/>
              <a:buFont typeface="Arial"/>
              <a:buNone/>
            </a:pPr>
            <a:r>
              <a:rPr lang="ru-RU"/>
              <a:t>Спасибо за внимание!!!</a:t>
            </a:r>
            <a:endParaRPr/>
          </a:p>
        </p:txBody>
      </p:sp>
      <p:sp>
        <p:nvSpPr>
          <p:cNvPr id="162" name="Google Shape;162;p20"/>
          <p:cNvSpPr txBox="1"/>
          <p:nvPr>
            <p:ph idx="1" type="body"/>
          </p:nvPr>
        </p:nvSpPr>
        <p:spPr>
          <a:xfrm>
            <a:off x="1720583" y="3696021"/>
            <a:ext cx="6529387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4439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