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34698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19357" l="0" r="49722" t="19356"/>
          <a:stretch/>
        </p:blipFill>
        <p:spPr>
          <a:xfrm>
            <a:off x="6556531" y="808958"/>
            <a:ext cx="5576500" cy="4806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ВЫПОЛНИЛ СТУДЕНТ ГРУППЫ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34698" y="4449555"/>
            <a:ext cx="6700974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637150" y="1359011"/>
            <a:ext cx="2725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ДИПЛОМНЫЙ ПРОЕКТ</a:t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34698" y="2123477"/>
            <a:ext cx="1088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НА ТЕМУ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3952616" y="3997677"/>
            <a:ext cx="959937" cy="367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/>
          <p:nvPr/>
        </p:nvSpPr>
        <p:spPr>
          <a:xfrm>
            <a:off x="570629" y="5179157"/>
            <a:ext cx="625057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РУКОВОДИТЕЛЬ ДИПЛОМНОГО ПРОЕКТА: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КОНСУЛЬТАНТ ПО ЭКОНОМИЧЕСКОЙ ЧАСТИ: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 txBox="1"/>
          <p:nvPr>
            <p:ph idx="3" type="body"/>
          </p:nvPr>
        </p:nvSpPr>
        <p:spPr>
          <a:xfrm>
            <a:off x="5200503" y="5179157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4" type="body"/>
          </p:nvPr>
        </p:nvSpPr>
        <p:spPr>
          <a:xfrm>
            <a:off x="5200475" y="5600152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/>
          <p:nvPr/>
        </p:nvSpPr>
        <p:spPr>
          <a:xfrm>
            <a:off x="184417" y="437781"/>
            <a:ext cx="11841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ДЕПАРТАМЕНТ ОБРАЗОВАНИЯ И НАУКИ ГОРОДА МОСКВЫ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Государственное бюджетное профессиональное образовательное учреждение города Москвы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«Колледж автоматизации и информационных технологий № 20»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Заголовок и объект">
  <p:cSld name="10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 rot="-5400002">
            <a:off x="6107538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 rot="-7712891">
            <a:off x="10286727" y="584961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>
            <p:ph idx="2" type="body"/>
          </p:nvPr>
        </p:nvSpPr>
        <p:spPr>
          <a:xfrm>
            <a:off x="6206138" y="1299566"/>
            <a:ext cx="5147662" cy="4990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3" type="body"/>
          </p:nvPr>
        </p:nvSpPr>
        <p:spPr>
          <a:xfrm>
            <a:off x="838198" y="1952472"/>
            <a:ext cx="5147663" cy="4337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  <a:defRPr b="1" sz="3200">
                <a:solidFill>
                  <a:srgbClr val="4C42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16" y="244739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 rot="-2312889">
            <a:off x="-370082" y="1666669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  <a:defRPr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460" y="905057"/>
            <a:ext cx="3511366" cy="3519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ctrTitle"/>
          </p:nvPr>
        </p:nvSpPr>
        <p:spPr>
          <a:xfrm>
            <a:off x="634698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ВЫПОЛНИЛ СТУДЕНТ ГРУППЫ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634698" y="4449555"/>
            <a:ext cx="6700974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>
            <a:off x="637150" y="1359011"/>
            <a:ext cx="2725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ДИПЛОМНЫЙ ПРОЕКТ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34698" y="2123477"/>
            <a:ext cx="1088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НА ТЕМУ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3952616" y="3997677"/>
            <a:ext cx="959937" cy="367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570629" y="5179157"/>
            <a:ext cx="625057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РУКОВОДИТЕЛЬ ДИПЛОМНОГО ПРОЕКТА: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КОНСУЛЬТАНТ ПО ЭКОНОМИЧЕСКОЙ ЧАСТИ: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>
            <p:ph idx="3" type="body"/>
          </p:nvPr>
        </p:nvSpPr>
        <p:spPr>
          <a:xfrm>
            <a:off x="5208186" y="5189006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4" type="body"/>
          </p:nvPr>
        </p:nvSpPr>
        <p:spPr>
          <a:xfrm>
            <a:off x="5200475" y="5600152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"/>
          <p:cNvSpPr/>
          <p:nvPr/>
        </p:nvSpPr>
        <p:spPr>
          <a:xfrm>
            <a:off x="184417" y="445466"/>
            <a:ext cx="11841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ДЕПАРТАМЕНТ ОБРАЗОВАНИЯ И НАУКИ ГОРОДА МОСКВЫ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Государственное бюджетное профессиональное образовательное учреждение города Москвы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«Колледж автоматизации и информационных технологий № 20»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и объект">
  <p:cSld name="5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1037344" y="328228"/>
            <a:ext cx="10316455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idx="1" type="body"/>
          </p:nvPr>
        </p:nvSpPr>
        <p:spPr>
          <a:xfrm>
            <a:off x="838198" y="1304543"/>
            <a:ext cx="10515601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/>
          <p:nvPr/>
        </p:nvSpPr>
        <p:spPr>
          <a:xfrm rot="-7712891">
            <a:off x="10286727" y="638748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8200" y="19387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 и объект">
  <p:cSld name="1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1037344" y="328228"/>
            <a:ext cx="10316455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 rot="-7712891">
            <a:off x="10286727" y="577276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838198" y="1786301"/>
            <a:ext cx="50673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6286499" y="1786301"/>
            <a:ext cx="50673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3" type="body"/>
          </p:nvPr>
        </p:nvSpPr>
        <p:spPr>
          <a:xfrm>
            <a:off x="838198" y="1304543"/>
            <a:ext cx="10515601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Заголовок и объект">
  <p:cSld name="1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1060396" y="328228"/>
            <a:ext cx="10293403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 rot="-7712891">
            <a:off x="10286727" y="500436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838200" y="1299565"/>
            <a:ext cx="10515600" cy="4990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 rot="-5400002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 rot="-7712891">
            <a:off x="4203859" y="727299"/>
            <a:ext cx="2146752" cy="150770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952820" y="328229"/>
            <a:ext cx="4264640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484576" y="328229"/>
            <a:ext cx="6438482" cy="61472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8200" y="1299566"/>
            <a:ext cx="4379260" cy="49904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 rot="-5400002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 rot="-7712891">
            <a:off x="4203859" y="727299"/>
            <a:ext cx="2146752" cy="150770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999720" y="328229"/>
            <a:ext cx="4217740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840636" y="3403122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838200" y="1299566"/>
            <a:ext cx="4379260" cy="50465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3" type="body"/>
          </p:nvPr>
        </p:nvSpPr>
        <p:spPr>
          <a:xfrm>
            <a:off x="5596693" y="3403121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4" type="body"/>
          </p:nvPr>
        </p:nvSpPr>
        <p:spPr>
          <a:xfrm>
            <a:off x="8840636" y="328228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5" type="body"/>
          </p:nvPr>
        </p:nvSpPr>
        <p:spPr>
          <a:xfrm>
            <a:off x="5596693" y="328227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ctrTitle"/>
          </p:nvPr>
        </p:nvSpPr>
        <p:spPr>
          <a:xfrm>
            <a:off x="522514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ru-RU"/>
              <a:t>«Разработка мобильного приложения “Room Planner”»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522514" y="4461128"/>
            <a:ext cx="6756186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ru-RU"/>
              <a:t>Анискина Ольга Алексеевна</a:t>
            </a:r>
            <a:endParaRPr b="1"/>
          </a:p>
        </p:txBody>
      </p:sp>
      <p:sp>
        <p:nvSpPr>
          <p:cNvPr id="95" name="Google Shape;95;p11"/>
          <p:cNvSpPr txBox="1"/>
          <p:nvPr>
            <p:ph idx="2" type="body"/>
          </p:nvPr>
        </p:nvSpPr>
        <p:spPr>
          <a:xfrm>
            <a:off x="3900606" y="3976066"/>
            <a:ext cx="1239483" cy="367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ru-RU"/>
              <a:t>ИСП291</a:t>
            </a:r>
            <a:endParaRPr/>
          </a:p>
        </p:txBody>
      </p:sp>
      <p:sp>
        <p:nvSpPr>
          <p:cNvPr id="96" name="Google Shape;96;p11"/>
          <p:cNvSpPr txBox="1"/>
          <p:nvPr>
            <p:ph idx="3" type="body"/>
          </p:nvPr>
        </p:nvSpPr>
        <p:spPr>
          <a:xfrm>
            <a:off x="5890563" y="5247005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ru-RU"/>
              <a:t>Аферов А.А.</a:t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440313" y="5211044"/>
            <a:ext cx="5361000" cy="7243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 flipH="1">
            <a:off x="463138" y="1106382"/>
            <a:ext cx="4892634" cy="7243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 txBox="1"/>
          <p:nvPr/>
        </p:nvSpPr>
        <p:spPr>
          <a:xfrm flipH="1">
            <a:off x="624116" y="1527955"/>
            <a:ext cx="39360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ПМ.12 Оператор ЭВМ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351063" y="5167593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Руководитель ПМ12</a:t>
            </a:r>
            <a:endParaRPr b="0" i="0" sz="3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ВВЕДЕНИЕ</a:t>
            </a:r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785118" y="1639125"/>
            <a:ext cx="99328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учебной практики</a:t>
            </a:r>
            <a:endParaRPr b="0" i="0" sz="2000" u="none" cap="none" strike="noStrike">
              <a:solidFill>
                <a:srgbClr val="4C42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732985" y="2413337"/>
            <a:ext cx="10570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чебная практика проходила в период с 12 января по 4 марта 2026 года на базе ГБПОУ КАИТ №20.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Цель практики: Углубление теоретических знаний и развитие практических навыков в сфере разработки программного обеспечения.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Задачи: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 Изучить среду разработки Android Studio.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2. Освоить работу с локальными базами данных SQLite.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3. Разработать мобильное приложение для ведения списка задач.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4. Провести отладку и тестирование готового продукта.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ТЕОРИТИЧЕСКАЯ ЧАСТЬ</a:t>
            </a:r>
            <a:endParaRPr/>
          </a:p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rPr lang="ru-RU"/>
              <a:t>Характеристика места практики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838198" y="332337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/>
              <a:t>Теоретическая часть</a:t>
            </a:r>
            <a:endParaRPr/>
          </a:p>
        </p:txBody>
      </p:sp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rPr lang="ru-RU"/>
              <a:t>База практики: отделение «ДатаХаб» 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8198" y="1948365"/>
            <a:ext cx="70062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проходила в специализированном подразделении колледжа КАИТ №20 — «ДатаХаб».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особенности подразделения: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Ведущий IT-центр Москвы с проектным подходом к обучению.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Образовательные программы: Python, SQL, облачные технологии, основы ИИ и машинного обучения.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Практика: Участие в реальных проектах, хакатонах и конкурсах с индустриальными партнерами.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Инфраструктура: Современные лаборатории, доступ к Git, GitHub и облачным платформам.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rPr lang="ru-RU"/>
              <a:t>Постановка задачи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4754" y="1276422"/>
            <a:ext cx="79314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практики была поставлена задача разработать мобильное приложение "Room Planner" для бронирования аудиторий.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Бронирование аудитории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Отображение списка с фильтрацией по статусу (Свободно/Занято/Моя заявка/Ожидает подтверждения)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Просмотр заявок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Редактирование профиля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История заявок, сохранение заявок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Технологический стек: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Среда: Android Studio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Язык: Java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Интерфейс: XML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База данных: SQLite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Сборка: Gradle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2587686" y="1232928"/>
            <a:ext cx="5641479" cy="375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Работа с данными. SQLite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33400" y="2124964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обеспечения сохранности данных при закрытии приложения была спроектирована локальная база данных SQLite.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Создан класс-помощник DatabaseHelper.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Реализованы основные CRUD-операции (создание, чтение, обновление, удаление).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База данных хранит поля: ID, Название задачи, Приоритет, Статус выполнения.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7" title="Снимок экрана 2026-03-04 082821.png"/>
          <p:cNvPicPr preferRelativeResize="0"/>
          <p:nvPr/>
        </p:nvPicPr>
        <p:blipFill rotWithShape="1">
          <a:blip r:embed="rId3">
            <a:alphaModFix/>
          </a:blip>
          <a:srcRect b="0" l="4545" r="4554" t="0"/>
          <a:stretch/>
        </p:blipFill>
        <p:spPr>
          <a:xfrm>
            <a:off x="6689050" y="1324375"/>
            <a:ext cx="5074623" cy="51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rPr lang="ru-RU"/>
              <a:t>Пользовательский интерфейс</a:t>
            </a:r>
            <a:endParaRPr/>
          </a:p>
        </p:txBody>
      </p:sp>
      <p:sp>
        <p:nvSpPr>
          <p:cNvPr id="147" name="Google Shape;147;p18"/>
          <p:cNvSpPr txBox="1"/>
          <p:nvPr>
            <p:ph idx="3" type="body"/>
          </p:nvPr>
        </p:nvSpPr>
        <p:spPr>
          <a:xfrm>
            <a:off x="838198" y="1952472"/>
            <a:ext cx="5147663" cy="4337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приложения разработан с использованием языка разметки XML. Приложение состоит из нескольких экранов (Activities):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MainActivity — главный экран со списком задач.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NewTaskActivity — форма для добавления новой записи.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TaskDetailActivity — окно просмотра подробностей задачи.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Связь данных со списком обеспечивает специальный компонент — Адаптер (TaskAdapter)</a:t>
            </a: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1584" y="1300163"/>
            <a:ext cx="2536170" cy="498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1106500" y="328229"/>
            <a:ext cx="7203311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4" name="Google Shape;154;p19"/>
          <p:cNvSpPr txBox="1"/>
          <p:nvPr>
            <p:ph idx="2" type="body"/>
          </p:nvPr>
        </p:nvSpPr>
        <p:spPr>
          <a:xfrm>
            <a:off x="395267" y="1034279"/>
            <a:ext cx="10447952" cy="505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результате прохождения учебной практики индивидуальное задание было выполнено в полном объеме.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Итог: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возможности: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-Просмотр доступных помещений и выбор временных слотов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-Создание и отправка заявок на бронирование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-Отслеживание статуса заявок («на рассмотрении», «подтверждено», «отклонено»)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Техническая реализация: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-Локальная база данных SQLite (обеспечивает целостность и сохранность данных)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-Полностью соответствует требованиям ТЗ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-Поддержка автономной работы (без подключения к сети)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Спасибо за внимание!!!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